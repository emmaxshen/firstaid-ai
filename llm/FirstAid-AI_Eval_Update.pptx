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400" b="1">
                <a:solidFill>
                  <a:srgbClr val="4EC9B0"/>
                </a:solidFill>
              </a:defRPr>
            </a:pPr>
            <a:r>
              <a:t>FirstAid-AI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8229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0">
                <a:solidFill>
                  <a:srgbClr val="FFFFFF"/>
                </a:solidFill>
              </a:defRPr>
            </a:pPr>
            <a:r>
              <a:t>On-Device First-Aid Triage with Local LLMs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0">
                <a:solidFill>
                  <a:srgbClr val="BBBBBB"/>
                </a:solidFill>
              </a:defRPr>
            </a:pPr>
            <a:r>
              <a:t>Eval Pipeline Progress Update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4EC9B0"/>
                </a:solidFill>
              </a:defRPr>
            </a:pPr>
            <a:r>
              <a:t>What We Built This Week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BBBBBB"/>
                </a:solidFill>
              </a:defRPr>
            </a:pPr>
            <a:r>
              <a:t>  Eval harness (run_eval.py) — fully local, no API keys needed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76809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BBBBBB"/>
                </a:solidFill>
              </a:defRPr>
            </a:pPr>
            <a:r>
              <a:t>  20 eval cases across 4 severity tiers (T0-T3)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76809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BBBBBB"/>
                </a:solidFill>
              </a:defRPr>
            </a:pPr>
            <a:r>
              <a:t>  Structured grading: required / preferred / prohibited behaviors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06040"/>
            <a:ext cx="76809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BBBBBB"/>
                </a:solidFill>
              </a:defRPr>
            </a:pPr>
            <a:r>
              <a:t>  Local judge model (Qwen2.5-14B) scores each output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08960"/>
            <a:ext cx="76809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BBBBBB"/>
                </a:solidFill>
              </a:defRPr>
            </a:pPr>
            <a:r>
              <a:t>  Multi-model comparison: 7 models benchmarked in one run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11880"/>
            <a:ext cx="76809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BBBBBB"/>
                </a:solidFill>
              </a:defRPr>
            </a:pPr>
            <a:r>
              <a:t>  Automated scoring: weighted score + Tier 3 miss rate + VLM quality breakdown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4EC9B0"/>
                </a:solidFill>
              </a:defRPr>
            </a:pPr>
            <a:r>
              <a:t>Pipeline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188720"/>
            <a:ext cx="1920240" cy="2011680"/>
          </a:xfrm>
          <a:prstGeom prst="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7373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4EC9B0"/>
                </a:solidFill>
              </a:defRPr>
            </a:pPr>
            <a:r>
              <a:t>1  Load Cases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173736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BBBBBB"/>
                </a:solidFill>
              </a:defRPr>
            </a:pPr>
            <a:r>
              <a:t>eval_cases.json</a:t>
            </a:r>
            <a:br/>
            <a:r>
              <a:t>20 cases, 4 tiers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1828800"/>
            <a:ext cx="274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1">
                <a:solidFill>
                  <a:srgbClr val="FFD93D"/>
                </a:solidFill>
              </a:defRPr>
            </a:pPr>
            <a:r>
              <a:t>&gt;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0" y="1188720"/>
            <a:ext cx="1920240" cy="2011680"/>
          </a:xfrm>
          <a:prstGeom prst="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51760" y="1280160"/>
            <a:ext cx="17373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4EC9B0"/>
                </a:solidFill>
              </a:defRPr>
            </a:pPr>
            <a:r>
              <a:t>2  Run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1737360"/>
            <a:ext cx="173736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BBBBBB"/>
                </a:solidFill>
              </a:defRPr>
            </a:pPr>
            <a:r>
              <a:t>mlx_lm.generate</a:t>
            </a:r>
            <a:br/>
            <a:r>
              <a:t>7 models tested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1828800"/>
            <a:ext cx="274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1">
                <a:solidFill>
                  <a:srgbClr val="FFD93D"/>
                </a:solidFill>
              </a:defRPr>
            </a:pPr>
            <a:r>
              <a:t>&gt;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0" y="1188720"/>
            <a:ext cx="1920240" cy="2011680"/>
          </a:xfrm>
          <a:prstGeom prst="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1280160"/>
            <a:ext cx="17373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4EC9B0"/>
                </a:solidFill>
              </a:defRPr>
            </a:pPr>
            <a:r>
              <a:t>3  Judge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1737360"/>
            <a:ext cx="173736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BBBBBB"/>
                </a:solidFill>
              </a:defRPr>
            </a:pPr>
            <a:r>
              <a:t>Qwen2.5-14B</a:t>
            </a:r>
            <a:br/>
            <a:r>
              <a:t>req/pref/prohib grading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1828800"/>
            <a:ext cx="274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1">
                <a:solidFill>
                  <a:srgbClr val="FFD93D"/>
                </a:solidFill>
              </a:defRPr>
            </a:pPr>
            <a:r>
              <a:t>&gt;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49440" y="1188720"/>
            <a:ext cx="1920240" cy="2011680"/>
          </a:xfrm>
          <a:prstGeom prst="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79" y="1280160"/>
            <a:ext cx="17373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4EC9B0"/>
                </a:solidFill>
              </a:defRPr>
            </a:pPr>
            <a:r>
              <a:t>4  Aggregate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79" y="1737360"/>
            <a:ext cx="173736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BBBBBB"/>
                </a:solidFill>
              </a:defRPr>
            </a:pPr>
            <a:r>
              <a:t>results.json</a:t>
            </a:r>
            <a:br/>
            <a:r>
              <a:t>per-tier + weighted scores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BBBBBB"/>
                </a:solidFill>
              </a:defRPr>
            </a:pPr>
            <a:r>
              <a:t>Everything runs on-device (Apple Silicon) — no cloud, no API costs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4EC9B0"/>
                </a:solidFill>
              </a:defRPr>
            </a:pPr>
            <a:r>
              <a:t>Severity Tier System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777240"/>
          </a:xfrm>
          <a:prstGeom prst="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Tier 0 — Self-Care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BBBBBB"/>
                </a:solidFill>
              </a:defRPr>
            </a:pPr>
            <a:r>
              <a:t>Paper cuts, bruises, runny nose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1143000"/>
            <a:ext cx="1188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400" b="1">
                <a:solidFill>
                  <a:srgbClr val="FFFFFF"/>
                </a:solidFill>
              </a:defRPr>
            </a:pPr>
            <a:r>
              <a:t>Weight: 1x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920240"/>
            <a:ext cx="8229600" cy="777240"/>
          </a:xfrm>
          <a:prstGeom prst="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96596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FFD93D"/>
                </a:solidFill>
              </a:defRPr>
            </a:pPr>
            <a:r>
              <a:t>Tier 1 — Moderate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86000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BBBBBB"/>
                </a:solidFill>
              </a:defRPr>
            </a:pPr>
            <a:r>
              <a:t>Sprains, minor burns, bee stings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2057400"/>
            <a:ext cx="1188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400" b="1">
                <a:solidFill>
                  <a:srgbClr val="FFD93D"/>
                </a:solidFill>
              </a:defRPr>
            </a:pPr>
            <a:r>
              <a:t>Weight: 2x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834640"/>
            <a:ext cx="8229600" cy="777240"/>
          </a:xfrm>
          <a:prstGeom prst="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88036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FFA500"/>
                </a:solidFill>
              </a:defRPr>
            </a:pPr>
            <a:r>
              <a:t>Tier 2 — ER Required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200400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BBBBBB"/>
                </a:solidFill>
              </a:defRPr>
            </a:pPr>
            <a:r>
              <a:t>Fractures, deep cuts, head injuries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2971800"/>
            <a:ext cx="1188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400" b="1">
                <a:solidFill>
                  <a:srgbClr val="FFA500"/>
                </a:solidFill>
              </a:defRPr>
            </a:pPr>
            <a:r>
              <a:t>Weight: 3x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749039"/>
            <a:ext cx="8229600" cy="777240"/>
          </a:xfrm>
          <a:prstGeom prst="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794759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FF6B6B"/>
                </a:solidFill>
              </a:defRPr>
            </a:pPr>
            <a:r>
              <a:t>Tier 3 — Life-Threatening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114800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BBBBBB"/>
                </a:solidFill>
              </a:defRPr>
            </a:pPr>
            <a:r>
              <a:t>Heart attack, stroke, anaphylaxis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3886200"/>
            <a:ext cx="1188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400" b="1">
                <a:solidFill>
                  <a:srgbClr val="FF6B6B"/>
                </a:solidFill>
              </a:defRPr>
            </a:pPr>
            <a:r>
              <a:t>Weight: 5x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4EC9B0"/>
                </a:solidFill>
              </a:defRPr>
            </a:pPr>
            <a:r>
              <a:t>Key Eval Design Choices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BBBBBB"/>
                </a:solidFill>
              </a:defRPr>
            </a:pPr>
            <a:r>
              <a:t>  Tier 3 users MINIMIZE symptoms — model must catch what user downplays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76809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BBBBBB"/>
                </a:solidFill>
              </a:defRPr>
            </a:pPr>
            <a:r>
              <a:t>  VLM inputs vary in quality: 60% good, 25% vague, 10% contradictory, 5% useless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76809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BBBBBB"/>
                </a:solidFill>
              </a:defRPr>
            </a:pPr>
            <a:r>
              <a:t>  Structured grading: required (must have) / preferred (bonus) / prohibited (auto-fail)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06040"/>
            <a:ext cx="76809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BBBBBB"/>
                </a:solidFill>
              </a:defRPr>
            </a:pPr>
            <a:r>
              <a:t>  Judge is 14B (4.7x larger than test models) — strong enough to grade 3B-8B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08960"/>
            <a:ext cx="76809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BBBBBB"/>
                </a:solidFill>
              </a:defRPr>
            </a:pPr>
            <a:r>
              <a:t>  Demographic tags: standard adult, pediatric, elderly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11880"/>
            <a:ext cx="76809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BBBBBB"/>
                </a:solidFill>
              </a:defRPr>
            </a:pPr>
            <a:r>
              <a:t>  Contradictory VLM cases test if model trusts user over bad image analysis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4EC9B0"/>
                </a:solidFill>
              </a:defRPr>
            </a:pPr>
            <a:r>
              <a:t>Models Under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4EC9B0"/>
                </a:solidFill>
              </a:defRPr>
            </a:pPr>
            <a:r>
              <a:t>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1005840"/>
            <a:ext cx="1097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4EC9B0"/>
                </a:solidFill>
              </a:defRPr>
            </a:pPr>
            <a:r>
              <a:t>Size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100584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4EC9B0"/>
                </a:solidFill>
              </a:defRPr>
            </a:pPr>
            <a:r>
              <a:t>Notes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Llama 3.2 3B Instruct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1417320"/>
            <a:ext cx="1097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FFD93D"/>
                </a:solidFill>
              </a:defRPr>
            </a:pPr>
            <a:r>
              <a:t>3B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141732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BBBBBB"/>
                </a:solidFill>
              </a:defRPr>
            </a:pPr>
            <a:r>
              <a:t>Meta — strong baseline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56232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Qwen3 4B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1856232"/>
            <a:ext cx="1097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FFD93D"/>
                </a:solidFill>
              </a:defRPr>
            </a:pPr>
            <a:r>
              <a:t>4B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1856232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BBBBBB"/>
                </a:solidFill>
              </a:defRPr>
            </a:pPr>
            <a:r>
              <a:t>Alibaba — good reasoning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295144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Phi-4 Mini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2295144"/>
            <a:ext cx="1097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FFD93D"/>
                </a:solidFill>
              </a:defRPr>
            </a:pPr>
            <a:r>
              <a:t>3.8B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2295144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BBBBBB"/>
                </a:solidFill>
              </a:defRPr>
            </a:pPr>
            <a:r>
              <a:t>Microsoft — compact performer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734056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Gemma 3 4B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2734056"/>
            <a:ext cx="1097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FFD93D"/>
                </a:solidFill>
              </a:defRPr>
            </a:pPr>
            <a:r>
              <a:t>4B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2734056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BBBBBB"/>
                </a:solidFill>
              </a:defRPr>
            </a:pPr>
            <a:r>
              <a:t>Google — instruction-tuned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172968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Ministral 3B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3172968"/>
            <a:ext cx="1097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FFD93D"/>
                </a:solidFill>
              </a:defRPr>
            </a:pPr>
            <a:r>
              <a:t>3B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3172968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BBBBBB"/>
                </a:solidFill>
              </a:defRPr>
            </a:pPr>
            <a:r>
              <a:t>Mistral — efficient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61188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SmolLM2 1.7B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3611880"/>
            <a:ext cx="1097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FFD93D"/>
                </a:solidFill>
              </a:defRPr>
            </a:pPr>
            <a:r>
              <a:t>1.7B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361188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BBBBBB"/>
                </a:solidFill>
              </a:defRPr>
            </a:pPr>
            <a:r>
              <a:t>HuggingFace — floor test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050791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Qwen3 8B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0" y="4050791"/>
            <a:ext cx="1097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FFD93D"/>
                </a:solidFill>
              </a:defRPr>
            </a:pPr>
            <a:r>
              <a:t>8B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4050791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BBBBBB"/>
                </a:solidFill>
              </a:defRPr>
            </a:pPr>
            <a:r>
              <a:t>Alibaba — ceiling test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4EC9B0"/>
                </a:solidFill>
              </a:defRPr>
            </a:pPr>
            <a:r>
              <a:t>Llama 3.2 3B — Results (Baseline)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5029200" cy="502920"/>
          </a:xfrm>
          <a:prstGeom prst="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Tier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1143000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FFD93D"/>
                </a:solidFill>
              </a:defRPr>
            </a:pPr>
            <a:r>
              <a:t>3/5 pass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143000"/>
            <a:ext cx="1097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FFD93D"/>
                </a:solidFill>
              </a:defRPr>
            </a:pPr>
            <a:r>
              <a:t>(60%)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5029200" cy="502920"/>
          </a:xfrm>
          <a:prstGeom prst="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Tier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1737360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4EC9B0"/>
                </a:solidFill>
              </a:defRPr>
            </a:pPr>
            <a:r>
              <a:t>5/5 pass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1737360"/>
            <a:ext cx="1097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4EC9B0"/>
                </a:solidFill>
              </a:defRPr>
            </a:pPr>
            <a:r>
              <a:t>(100%)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286000"/>
            <a:ext cx="5029200" cy="502920"/>
          </a:xfrm>
          <a:prstGeom prst="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33172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Tier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331720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4EC9B0"/>
                </a:solidFill>
              </a:defRPr>
            </a:pPr>
            <a:r>
              <a:t>4/5 pass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2331720"/>
            <a:ext cx="1097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4EC9B0"/>
                </a:solidFill>
              </a:defRPr>
            </a:pPr>
            <a:r>
              <a:t>(80%)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880360"/>
            <a:ext cx="5029200" cy="502920"/>
          </a:xfrm>
          <a:prstGeom prst="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92608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Tier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2926080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4EC9B0"/>
                </a:solidFill>
              </a:defRPr>
            </a:pPr>
            <a:r>
              <a:t>4/5 pass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2926080"/>
            <a:ext cx="1097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4EC9B0"/>
                </a:solidFill>
              </a:defRPr>
            </a:pPr>
            <a:r>
              <a:t>(80%)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0" y="1097280"/>
            <a:ext cx="2743200" cy="1005840"/>
          </a:xfrm>
          <a:prstGeom prst="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1188720"/>
            <a:ext cx="23774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BBBBBB"/>
                </a:solidFill>
              </a:defRPr>
            </a:pPr>
            <a:r>
              <a:t>Weighted Score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1508760"/>
            <a:ext cx="2377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4EC9B0"/>
                </a:solidFill>
              </a:defRPr>
            </a:pPr>
            <a:r>
              <a:t>82%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0" y="2286000"/>
            <a:ext cx="2743200" cy="1005840"/>
          </a:xfrm>
          <a:prstGeom prst="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0" y="2377440"/>
            <a:ext cx="23774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BBBBBB"/>
                </a:solidFill>
              </a:defRPr>
            </a:pPr>
            <a:r>
              <a:t>Tier 3 Miss Rate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2697480"/>
            <a:ext cx="2377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FFD93D"/>
                </a:solidFill>
              </a:defRPr>
            </a:pPr>
            <a:r>
              <a:t>20%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BBBBBB"/>
                </a:solidFill>
              </a:defRPr>
            </a:pPr>
            <a:r>
              <a:t>Pass rate by VLM quality: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3977639"/>
            <a:ext cx="8229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FFD93D"/>
                </a:solidFill>
              </a:defRPr>
            </a:pPr>
            <a:r>
              <a:t>good: 91%    vague: 80%    contradictory: 67%    useless: 0%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4EC9B0"/>
                </a:solidFill>
              </a:defRPr>
            </a:pPr>
            <a:r>
              <a:t>Key Findings So Far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BBBBBB"/>
                </a:solidFill>
              </a:defRPr>
            </a:pPr>
            <a:r>
              <a:t>  Model says 'CALL 911' for everything — even paper cuts (over-escalation)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76809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BBBBBB"/>
                </a:solidFill>
              </a:defRPr>
            </a:pPr>
            <a:r>
              <a:t>  Tier 3: calls 911 but misses specifics (EpiPen, secondary drowning, stroke ID)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76809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BBBBBB"/>
                </a:solidFill>
              </a:defRPr>
            </a:pPr>
            <a:r>
              <a:t>  Useless VLM input → model refused to give advice entirely (0% pass)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06040"/>
            <a:ext cx="76809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BBBBBB"/>
                </a:solidFill>
              </a:defRPr>
            </a:pPr>
            <a:r>
              <a:t>  Contradictory VLM input → 67% pass — model sometimes trusts bad image over user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08960"/>
            <a:ext cx="76809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BBBBBB"/>
                </a:solidFill>
              </a:defRPr>
            </a:pPr>
            <a:r>
              <a:t>  Judge passes cases with missing required behaviors — needs stricter calibration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11880"/>
            <a:ext cx="76809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BBBBBB"/>
                </a:solidFill>
              </a:defRPr>
            </a:pPr>
            <a:r>
              <a:t>  System prompt needs work: structured output format helps but doesn't fix triage logic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4EC9B0"/>
                </a:solidFill>
              </a:defRPr>
            </a:pPr>
            <a:r>
              <a:t>System Prompt — Current Version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3200400"/>
          </a:xfrm>
          <a:prstGeom prst="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863840" cy="3017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BBBBBB"/>
                </a:solidFill>
              </a:defRPr>
            </a:pPr>
            <a:r>
              <a:t>Structured output format:</a:t>
            </a:r>
            <a:br/>
            <a:r>
              <a:t>  SEVERITY: LOW | MODERATE | EMERGENCY</a:t>
            </a:r>
            <a:br/>
            <a:r>
              <a:t>  ACTIONS: 1. / 2. / 3.</a:t>
            </a:r>
            <a:br/>
            <a:r>
              <a:t>  WATCH FOR: [worsening signs]</a:t>
            </a:r>
            <a:br/>
            <a:br/>
            <a:r>
              <a:t>Key rules:</a:t>
            </a:r>
            <a:br/>
            <a:r>
              <a:t>  - EMERGENCY → action 1 MUST be 'Call 911 now'</a:t>
            </a:r>
            <a:br/>
            <a:r>
              <a:t>  - Immediate actions only, no long-term care</a:t>
            </a:r>
            <a:br/>
            <a:r>
              <a:t>  - No greetings, apologies, or conversational language</a:t>
            </a:r>
            <a:br/>
            <a:r>
              <a:t>  - Ambiguous = EMERGENCY (err toward caution)</a:t>
            </a:r>
            <a:br/>
            <a:r>
              <a:t>  - Actions read aloud by TTS</a:t>
            </a:r>
            <a:br/>
            <a:br/>
            <a:r>
              <a:t>Includes 4 few-shot examples (LOW, MODERATE, 2x EMERGENCY)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4EC9B0"/>
                </a:solidFill>
              </a:defRPr>
            </a:pPr>
            <a: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0">
                <a:solidFill>
                  <a:srgbClr val="BBBBBB"/>
                </a:solidFill>
              </a:defRPr>
            </a:pPr>
            <a:r>
              <a:t>  Run full 7-model comparison and pick top 2-3 candidates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76809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0">
                <a:solidFill>
                  <a:srgbClr val="BBBBBB"/>
                </a:solidFill>
              </a:defRPr>
            </a:pPr>
            <a:r>
              <a:t>  Fix over-escalation: model should NOT call 911 for paper cuts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76809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0">
                <a:solidFill>
                  <a:srgbClr val="BBBBBB"/>
                </a:solidFill>
              </a:defRPr>
            </a:pPr>
            <a:r>
              <a:t>  Tighten judge: currently passes cases with missing required behaviors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06040"/>
            <a:ext cx="76809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0">
                <a:solidFill>
                  <a:srgbClr val="BBBBBB"/>
                </a:solidFill>
              </a:defRPr>
            </a:pPr>
            <a:r>
              <a:t>  Scale eval to 200 cases for statistical significance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08960"/>
            <a:ext cx="76809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0">
                <a:solidFill>
                  <a:srgbClr val="BBBBBB"/>
                </a:solidFill>
              </a:defRPr>
            </a:pPr>
            <a:r>
              <a:t>  Test with real VLM output (not simulated vlm_input strings)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11880"/>
            <a:ext cx="76809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0">
                <a:solidFill>
                  <a:srgbClr val="BBBBBB"/>
                </a:solidFill>
              </a:defRPr>
            </a:pPr>
            <a:r>
              <a:t>  Begin MLX Swift integration for on-device iOS prototype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